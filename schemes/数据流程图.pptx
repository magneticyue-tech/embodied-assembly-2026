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2" userDrawn="1">
          <p15:clr>
            <a:srgbClr val="A4A3A4"/>
          </p15:clr>
        </p15:guide>
        <p15:guide id="2" pos="387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52"/>
        <p:guide pos="387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" name="圆角矩形 36"/>
          <p:cNvSpPr/>
          <p:nvPr/>
        </p:nvSpPr>
        <p:spPr>
          <a:xfrm>
            <a:off x="9878695" y="3774440"/>
            <a:ext cx="1101090" cy="261683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显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示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模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块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4" name="圆角矩形 3"/>
          <p:cNvSpPr/>
          <p:nvPr/>
        </p:nvSpPr>
        <p:spPr>
          <a:xfrm>
            <a:off x="996315" y="713105"/>
            <a:ext cx="3317240" cy="18542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</a:rPr>
              <a:t>管线: 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en-US" altLang="zh-CN">
                <a:solidFill>
                  <a:schemeClr val="tx1"/>
                </a:solidFill>
              </a:rPr>
              <a:t>BGR→HSV </a:t>
            </a:r>
            <a:r>
              <a:rPr lang="zh-CN" altLang="en-US">
                <a:solidFill>
                  <a:schemeClr val="tx1"/>
                </a:solidFill>
              </a:rPr>
              <a:t>分割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形态学去噪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轮廓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**</a:t>
            </a:r>
            <a:r>
              <a:rPr lang="en-US" altLang="zh-CN">
                <a:solidFill>
                  <a:schemeClr val="tx1"/>
                </a:solidFill>
              </a:rPr>
              <a:t>minAreaRect(</a:t>
            </a:r>
            <a:r>
              <a:rPr lang="zh-CN" altLang="en-US">
                <a:solidFill>
                  <a:schemeClr val="tx1"/>
                </a:solidFill>
              </a:rPr>
              <a:t>中心+角度)**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单应反投影到台面坐标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7708265" y="652145"/>
            <a:ext cx="3395980" cy="1975485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 u="sng">
                <a:solidFill>
                  <a:schemeClr val="tx1"/>
                </a:solidFill>
              </a:rPr>
              <a:t>接收指令 </a:t>
            </a:r>
            <a:endParaRPr lang="zh-CN" altLang="en-US" u="sng">
              <a:solidFill>
                <a:schemeClr val="tx1"/>
              </a:solidFill>
            </a:endParaRPr>
          </a:p>
          <a:p>
            <a:pPr algn="l"/>
            <a:r>
              <a:rPr lang="zh-CN" altLang="en-US" u="sng">
                <a:solidFill>
                  <a:schemeClr val="tx1"/>
                </a:solidFill>
              </a:rPr>
              <a:t>坐标变换 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 u="sng">
                <a:solidFill>
                  <a:schemeClr val="tx1"/>
                </a:solidFill>
              </a:rPr>
              <a:t>运动规划</a:t>
            </a:r>
            <a:r>
              <a:rPr lang="zh-CN" altLang="en-US">
                <a:solidFill>
                  <a:schemeClr val="tx1"/>
                </a:solidFill>
              </a:rPr>
              <a:t> 规划一条安全的路径，让机械臂从当前位置移动到方块上方，避开障碍物 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 u="sng">
                <a:solidFill>
                  <a:schemeClr val="tx1"/>
                </a:solidFill>
              </a:rPr>
              <a:t>抓取</a:t>
            </a:r>
            <a:r>
              <a:rPr lang="en-US" altLang="zh-CN">
                <a:solidFill>
                  <a:schemeClr val="tx1"/>
                </a:solidFill>
              </a:rPr>
              <a:t>——</a:t>
            </a:r>
            <a:r>
              <a:rPr lang="zh-CN" altLang="en-US" u="sng">
                <a:solidFill>
                  <a:schemeClr val="tx1"/>
                </a:solidFill>
              </a:rPr>
              <a:t>搬运</a:t>
            </a:r>
            <a:r>
              <a:rPr lang="en-US" altLang="zh-CN">
                <a:solidFill>
                  <a:schemeClr val="tx1"/>
                </a:solidFill>
              </a:rPr>
              <a:t>——</a:t>
            </a:r>
            <a:r>
              <a:rPr lang="zh-CN" altLang="en-US" u="sng">
                <a:solidFill>
                  <a:schemeClr val="tx1"/>
                </a:solidFill>
              </a:rPr>
              <a:t>放置</a:t>
            </a:r>
            <a:endParaRPr lang="zh-CN" altLang="en-US" u="sng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4721860" y="4241800"/>
            <a:ext cx="2925445" cy="15875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en-US" altLang="zh-CN">
                <a:solidFill>
                  <a:schemeClr val="tx1"/>
                </a:solidFill>
              </a:rPr>
              <a:t>KWS</a:t>
            </a:r>
            <a:r>
              <a:rPr lang="zh-CN" altLang="en-US">
                <a:solidFill>
                  <a:schemeClr val="tx1"/>
                </a:solidFill>
              </a:rPr>
              <a:t>关键词检测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321935" y="849630"/>
            <a:ext cx="1725930" cy="158115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l"/>
            <a:r>
              <a:rPr lang="zh-CN" altLang="en-US">
                <a:solidFill>
                  <a:schemeClr val="tx1"/>
                </a:solidFill>
              </a:rPr>
              <a:t>读取任务卡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解析指令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结构化输出</a:t>
            </a:r>
            <a:endParaRPr lang="zh-CN" altLang="en-US">
              <a:solidFill>
                <a:schemeClr val="tx1"/>
              </a:solidFill>
            </a:endParaRPr>
          </a:p>
          <a:p>
            <a:pPr algn="l"/>
            <a:r>
              <a:rPr lang="zh-CN" altLang="en-US">
                <a:solidFill>
                  <a:schemeClr val="tx1"/>
                </a:solidFill>
              </a:rPr>
              <a:t>置信度校验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042160" y="396875"/>
            <a:ext cx="1026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感知层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5613400" y="396875"/>
            <a:ext cx="1053465" cy="3162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/>
              <a:t>认知层</a:t>
            </a:r>
            <a:endParaRPr lang="zh-CN" altLang="en-US" b="1"/>
          </a:p>
        </p:txBody>
      </p:sp>
      <p:sp>
        <p:nvSpPr>
          <p:cNvPr id="11" name="文本框 10"/>
          <p:cNvSpPr txBox="1"/>
          <p:nvPr/>
        </p:nvSpPr>
        <p:spPr>
          <a:xfrm>
            <a:off x="8799195" y="177800"/>
            <a:ext cx="1079500" cy="4279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b="1"/>
              <a:t>执行层</a:t>
            </a:r>
            <a:endParaRPr lang="zh-CN" altLang="en-US" b="1"/>
          </a:p>
        </p:txBody>
      </p:sp>
      <p:sp>
        <p:nvSpPr>
          <p:cNvPr id="12" name="文本框 11"/>
          <p:cNvSpPr txBox="1"/>
          <p:nvPr/>
        </p:nvSpPr>
        <p:spPr>
          <a:xfrm>
            <a:off x="5666740" y="4378325"/>
            <a:ext cx="10001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交互层</a:t>
            </a:r>
            <a:endParaRPr lang="zh-CN" altLang="en-US" b="1"/>
          </a:p>
        </p:txBody>
      </p:sp>
      <p:cxnSp>
        <p:nvCxnSpPr>
          <p:cNvPr id="13" name="直接箭头连接符 12"/>
          <p:cNvCxnSpPr>
            <a:stCxn id="4" idx="3"/>
            <a:endCxn id="8" idx="1"/>
          </p:cNvCxnSpPr>
          <p:nvPr/>
        </p:nvCxnSpPr>
        <p:spPr>
          <a:xfrm>
            <a:off x="4313555" y="1640205"/>
            <a:ext cx="100838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4" name="肘形连接符 13"/>
          <p:cNvCxnSpPr>
            <a:stCxn id="8" idx="3"/>
            <a:endCxn id="6" idx="1"/>
          </p:cNvCxnSpPr>
          <p:nvPr/>
        </p:nvCxnSpPr>
        <p:spPr>
          <a:xfrm>
            <a:off x="7047865" y="1640205"/>
            <a:ext cx="660400" cy="3175"/>
          </a:xfrm>
          <a:prstGeom prst="bentConnector2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3540125" y="3348990"/>
            <a:ext cx="1121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视觉</a:t>
            </a:r>
            <a:r>
              <a:rPr lang="zh-CN" altLang="en-US"/>
              <a:t>数据</a:t>
            </a:r>
            <a:endParaRPr lang="zh-CN" altLang="en-US"/>
          </a:p>
        </p:txBody>
      </p:sp>
      <p:cxnSp>
        <p:nvCxnSpPr>
          <p:cNvPr id="21" name="肘形连接符 20"/>
          <p:cNvCxnSpPr>
            <a:stCxn id="4" idx="2"/>
            <a:endCxn id="7" idx="0"/>
          </p:cNvCxnSpPr>
          <p:nvPr/>
        </p:nvCxnSpPr>
        <p:spPr>
          <a:xfrm rot="5400000" flipV="1">
            <a:off x="3582670" y="1639570"/>
            <a:ext cx="1674495" cy="3529965"/>
          </a:xfrm>
          <a:prstGeom prst="bentConnector3">
            <a:avLst>
              <a:gd name="adj1" fmla="val 70269"/>
            </a:avLst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3" name="肘形连接符 22"/>
          <p:cNvCxnSpPr>
            <a:stCxn id="6" idx="2"/>
            <a:endCxn id="7" idx="0"/>
          </p:cNvCxnSpPr>
          <p:nvPr/>
        </p:nvCxnSpPr>
        <p:spPr>
          <a:xfrm rot="5400000">
            <a:off x="6988493" y="1824038"/>
            <a:ext cx="1614170" cy="3221355"/>
          </a:xfrm>
          <a:prstGeom prst="bentConnector3">
            <a:avLst>
              <a:gd name="adj1" fmla="val 55782"/>
            </a:avLst>
          </a:prstGeom>
          <a:ln>
            <a:solidFill>
              <a:schemeClr val="accent3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>
            <a:stCxn id="8" idx="2"/>
            <a:endCxn id="7" idx="0"/>
          </p:cNvCxnSpPr>
          <p:nvPr/>
        </p:nvCxnSpPr>
        <p:spPr>
          <a:xfrm>
            <a:off x="6184900" y="2430780"/>
            <a:ext cx="0" cy="1811020"/>
          </a:xfrm>
          <a:prstGeom prst="straightConnector1">
            <a:avLst/>
          </a:prstGeom>
          <a:ln>
            <a:solidFill>
              <a:schemeClr val="accent2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6" name="文本框 25"/>
          <p:cNvSpPr txBox="1"/>
          <p:nvPr/>
        </p:nvSpPr>
        <p:spPr>
          <a:xfrm>
            <a:off x="6960235" y="3155950"/>
            <a:ext cx="1838960" cy="31877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执行状态和评分</a:t>
            </a:r>
            <a:endParaRPr lang="zh-CN" altLang="en-US"/>
          </a:p>
        </p:txBody>
      </p:sp>
      <p:sp>
        <p:nvSpPr>
          <p:cNvPr id="27" name="文本框 26"/>
          <p:cNvSpPr txBox="1"/>
          <p:nvPr/>
        </p:nvSpPr>
        <p:spPr>
          <a:xfrm>
            <a:off x="5267960" y="3004820"/>
            <a:ext cx="960120" cy="6629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指令和置信度</a:t>
            </a:r>
            <a:endParaRPr lang="zh-CN" altLang="en-US"/>
          </a:p>
        </p:txBody>
      </p:sp>
      <p:cxnSp>
        <p:nvCxnSpPr>
          <p:cNvPr id="31" name="肘形连接符 30"/>
          <p:cNvCxnSpPr/>
          <p:nvPr/>
        </p:nvCxnSpPr>
        <p:spPr>
          <a:xfrm flipV="1">
            <a:off x="7647305" y="4269105"/>
            <a:ext cx="2576195" cy="766445"/>
          </a:xfrm>
          <a:prstGeom prst="bentConnector3">
            <a:avLst>
              <a:gd name="adj1" fmla="val 31624"/>
            </a:avLst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8714740" y="3873500"/>
            <a:ext cx="14738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TTS</a:t>
            </a:r>
            <a:r>
              <a:rPr lang="zh-CN" altLang="en-US"/>
              <a:t>语音合成</a:t>
            </a:r>
            <a:endParaRPr lang="zh-CN" altLang="en-US"/>
          </a:p>
        </p:txBody>
      </p:sp>
      <p:cxnSp>
        <p:nvCxnSpPr>
          <p:cNvPr id="33" name="肘形连接符 32"/>
          <p:cNvCxnSpPr>
            <a:stCxn id="7" idx="3"/>
          </p:cNvCxnSpPr>
          <p:nvPr/>
        </p:nvCxnSpPr>
        <p:spPr>
          <a:xfrm flipV="1">
            <a:off x="7647305" y="5034280"/>
            <a:ext cx="2640330" cy="3175"/>
          </a:xfrm>
          <a:prstGeom prst="bentConnector3">
            <a:avLst>
              <a:gd name="adj1" fmla="val 50000"/>
            </a:avLst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文本框 33"/>
          <p:cNvSpPr txBox="1"/>
          <p:nvPr/>
        </p:nvSpPr>
        <p:spPr>
          <a:xfrm>
            <a:off x="8799195" y="4640580"/>
            <a:ext cx="14204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可视化界面</a:t>
            </a:r>
            <a:endParaRPr lang="zh-CN" altLang="en-US"/>
          </a:p>
        </p:txBody>
      </p:sp>
      <p:cxnSp>
        <p:nvCxnSpPr>
          <p:cNvPr id="35" name="肘形连接符 34"/>
          <p:cNvCxnSpPr/>
          <p:nvPr/>
        </p:nvCxnSpPr>
        <p:spPr>
          <a:xfrm>
            <a:off x="7647305" y="5035550"/>
            <a:ext cx="2609850" cy="960755"/>
          </a:xfrm>
          <a:prstGeom prst="bentConnector3">
            <a:avLst>
              <a:gd name="adj1" fmla="val 31046"/>
            </a:avLst>
          </a:prstGeom>
          <a:ln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8911590" y="5645150"/>
            <a:ext cx="11220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日志记录</a:t>
            </a:r>
            <a:endParaRPr lang="zh-CN" altLang="en-US"/>
          </a:p>
        </p:txBody>
      </p:sp>
      <p:cxnSp>
        <p:nvCxnSpPr>
          <p:cNvPr id="38" name="肘形连接符 37"/>
          <p:cNvCxnSpPr>
            <a:stCxn id="29" idx="3"/>
            <a:endCxn id="7" idx="1"/>
          </p:cNvCxnSpPr>
          <p:nvPr/>
        </p:nvCxnSpPr>
        <p:spPr>
          <a:xfrm>
            <a:off x="2374265" y="5035550"/>
            <a:ext cx="2347595" cy="3175"/>
          </a:xfrm>
          <a:prstGeom prst="bentConnector2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9" name="文本框 38"/>
          <p:cNvSpPr txBox="1"/>
          <p:nvPr/>
        </p:nvSpPr>
        <p:spPr>
          <a:xfrm>
            <a:off x="3048000" y="4657725"/>
            <a:ext cx="109728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语音</a:t>
            </a:r>
            <a:r>
              <a:rPr lang="zh-CN" altLang="en-US"/>
              <a:t>唤醒</a:t>
            </a:r>
            <a:endParaRPr lang="zh-CN" altLang="en-US"/>
          </a:p>
        </p:txBody>
      </p:sp>
      <p:cxnSp>
        <p:nvCxnSpPr>
          <p:cNvPr id="40" name="肘形连接符 39"/>
          <p:cNvCxnSpPr>
            <a:stCxn id="4" idx="3"/>
            <a:endCxn id="6" idx="2"/>
          </p:cNvCxnSpPr>
          <p:nvPr/>
        </p:nvCxnSpPr>
        <p:spPr>
          <a:xfrm>
            <a:off x="4313555" y="1640205"/>
            <a:ext cx="5092700" cy="987425"/>
          </a:xfrm>
          <a:prstGeom prst="bentConnector4">
            <a:avLst>
              <a:gd name="adj1" fmla="val 11221"/>
              <a:gd name="adj2" fmla="val 124823"/>
            </a:avLst>
          </a:prstGeom>
          <a:ln>
            <a:solidFill>
              <a:schemeClr val="accent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1" name="文本框 40"/>
          <p:cNvSpPr txBox="1"/>
          <p:nvPr/>
        </p:nvSpPr>
        <p:spPr>
          <a:xfrm>
            <a:off x="6807200" y="2461260"/>
            <a:ext cx="11417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坐标</a:t>
            </a:r>
            <a:r>
              <a:rPr lang="zh-CN" altLang="en-US"/>
              <a:t>数据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WPS 演示</Application>
  <PresentationFormat>宽屏</PresentationFormat>
  <Paragraphs>48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微软雅黑</vt:lpstr>
      <vt:lpstr>Calibri</vt:lpstr>
      <vt:lpstr>Arial Unicode MS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YOGA</dc:creator>
  <cp:lastModifiedBy>王培如</cp:lastModifiedBy>
  <cp:revision>6</cp:revision>
  <dcterms:created xsi:type="dcterms:W3CDTF">2023-08-09T12:44:00Z</dcterms:created>
  <dcterms:modified xsi:type="dcterms:W3CDTF">2026-07-04T06:20:42Z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13947A7A24F04E70A839E8997401D29A_12</vt:lpwstr>
  </property>
</Properties>
</file>